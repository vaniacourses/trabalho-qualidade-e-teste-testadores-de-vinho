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Cobertura</c:v>
                </c:pt>
              </c:strCache>
            </c:strRef>
          </c:tx>
          <c:spPr>
            <a:solidFill>
              <a:srgbClr val="5A737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B40-4125-9D49-E1A3FB73F25D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B40-4125-9D49-E1A3FB73F25D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13322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Antes</c:v>
                </c:pt>
                <c:pt idx="1">
                  <c:v>Depois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94.2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B40-4125-9D49-E1A3FB73F2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1332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7330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WaiterApp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Impactos do uso do</a:t>
            </a:r>
            <a:endParaRPr lang="en-US" sz="3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SonarQube no projeto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qualidade de código — visão inicial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FAILED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análise · 2.3k linhas · commit bac3facc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96712" y="1649288"/>
            <a:ext cx="6208776" cy="3467984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0" descr="ante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759016"/>
            <a:ext cx="5989320" cy="32485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06440" y="5172136"/>
            <a:ext cx="5989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análise no SonarCloud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76656"/>
            <a:ext cx="521208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5720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732520" y="548640"/>
            <a:ext cx="2880360" cy="2468880"/>
          </a:xfrm>
          <a:prstGeom prst="roundRect">
            <a:avLst>
              <a:gd name="adj" fmla="val 3704"/>
            </a:avLst>
          </a:prstGeom>
          <a:solidFill>
            <a:srgbClr val="0B3B3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732520" y="7772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8732520" y="1874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32520" y="23317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 </a:t>
            </a:r>
            <a:r>
              <a:rPr lang="en-US" sz="2600" dirty="0">
                <a:solidFill>
                  <a:srgbClr val="9FC4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B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issues eram do mesmo tipo: configuração de CORS potencialmente insegura nos controllers ClienteController, ItemController e PedidoController.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" y="2514600"/>
            <a:ext cx="7818120" cy="1078992"/>
          </a:xfrm>
          <a:prstGeom prst="roundRect">
            <a:avLst>
              <a:gd name="adj" fmla="val 6780"/>
            </a:avLst>
          </a:prstGeom>
          <a:solidFill>
            <a:srgbClr val="F2F8F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843784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660904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 dev hardcoded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63040" y="3026664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@CrossOrigin com "http://localhost:3000" fixado no código de produção.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3730752"/>
            <a:ext cx="7818120" cy="1078992"/>
          </a:xfrm>
          <a:prstGeom prst="roundRect">
            <a:avLst>
              <a:gd name="adj" fmla="val 6780"/>
            </a:avLst>
          </a:prstGeom>
          <a:solidFill>
            <a:srgbClr val="F2F8F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59936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877056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espalhada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463040" y="4242816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CORS repetidas em vários controllers dificultam auditoria e aumentam risco de inconsistências.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94360" y="4946904"/>
            <a:ext cx="7818120" cy="1078992"/>
          </a:xfrm>
          <a:prstGeom prst="roundRect">
            <a:avLst>
              <a:gd name="adj" fmla="val 6780"/>
            </a:avLst>
          </a:prstGeom>
          <a:solidFill>
            <a:srgbClr val="F2F8F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76088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509320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463040" y="5458968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a configuração de CORS em um único ponto da aplicação.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76656"/>
            <a:ext cx="521208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5720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732520" y="548640"/>
            <a:ext cx="2880360" cy="2468880"/>
          </a:xfrm>
          <a:prstGeom prst="roundRect">
            <a:avLst>
              <a:gd name="adj" fmla="val 3704"/>
            </a:avLst>
          </a:prstGeom>
          <a:solidFill>
            <a:srgbClr val="0B3B3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732520" y="7772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8732520" y="1874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32520" y="23317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 </a:t>
            </a:r>
            <a:r>
              <a:rPr lang="en-US" sz="2600" dirty="0">
                <a:solidFill>
                  <a:srgbClr val="9FC4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83 issues de reliability se concentravam em dois tipos principais de problema.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" y="2514600"/>
            <a:ext cx="3858768" cy="3611880"/>
          </a:xfrm>
          <a:prstGeom prst="roundRect">
            <a:avLst>
              <a:gd name="adj" fmla="val 2278"/>
            </a:avLst>
          </a:prstGeom>
          <a:solidFill>
            <a:srgbClr val="F2F8F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80720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788920"/>
            <a:ext cx="2761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Fuso horário não especificado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14400" y="3474720"/>
            <a:ext cx="3218688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LocalDateTime.now() sem ZoneId depende do SO onde a aplicação roda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imprevisível entre dev, homologação e produção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Ocorria tanto em código de produção quanto em testes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727448" y="2514600"/>
            <a:ext cx="3858768" cy="3611880"/>
          </a:xfrm>
          <a:prstGeom prst="roundRect">
            <a:avLst>
              <a:gd name="adj" fmla="val 2278"/>
            </a:avLst>
          </a:prstGeom>
          <a:solidFill>
            <a:srgbClr val="F2F8F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280720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96128" y="2788920"/>
            <a:ext cx="2761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sem verificação (Bug Major)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047488" y="3474720"/>
            <a:ext cx="3218688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PedidoService o Optional era desembrulhado sem checar presença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não encontrado retornava null silenciosamente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NullPointerException em tempo de execução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76656"/>
            <a:ext cx="521208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5720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Maintainability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732520" y="548640"/>
            <a:ext cx="2880360" cy="2468880"/>
          </a:xfrm>
          <a:prstGeom prst="roundRect">
            <a:avLst>
              <a:gd name="adj" fmla="val 3704"/>
            </a:avLst>
          </a:prstGeom>
          <a:solidFill>
            <a:srgbClr val="0B3B3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732520" y="7772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8732520" y="1874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32520" y="23317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 </a:t>
            </a:r>
            <a:r>
              <a:rPr lang="en-US" sz="2600" dirty="0">
                <a:solidFill>
                  <a:srgbClr val="9FC4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parte do esforço de refatoração. Principais correções aplicadas: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" y="3291840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58952" y="3438144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1216152" y="32918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Renomeação de pacotes  </a:t>
            </a:r>
            <a:r>
              <a:rPr lang="en-US" sz="11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PascalCase → lowercase (convenção Java)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3950208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758952" y="4096512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1216152" y="395020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Relógio em testes  </a:t>
            </a:r>
            <a:r>
              <a:rPr lang="en-US" sz="11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now() → data fixa, testes determinísticos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4608576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758952" y="475488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1216152" y="460857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e campos  </a:t>
            </a:r>
            <a:r>
              <a:rPr lang="en-US" sz="11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removidos imports e @Autowired não usados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" y="5266944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758952" y="5413248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1216152" y="5266944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comentado  </a:t>
            </a:r>
            <a:r>
              <a:rPr lang="en-US" sz="11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removidos blocos e TODOs sem valor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5925312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758952" y="6071616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1216152" y="5925312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System.out → Logger  </a:t>
            </a:r>
            <a:r>
              <a:rPr lang="en-US" sz="11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logs estruturados com SLF4J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263640" y="3291840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6428232" y="3438144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6885432" y="32918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 </a:t>
            </a:r>
            <a:r>
              <a:rPr lang="en-US" sz="11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construtores de Pagamento public → protected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263640" y="3950208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6428232" y="4096512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6885432" y="395020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utilitária  </a:t>
            </a:r>
            <a:r>
              <a:rPr lang="en-US" sz="11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SwaggerConfig() privado contra instanciação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263640" y="4608576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6428232" y="475488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6885432" y="460857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equals()/hashCode()  </a:t>
            </a:r>
            <a:r>
              <a:rPr lang="en-US" sz="11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implementados em Bebida e Prato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263640" y="5266944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2"/>
          <p:cNvSpPr/>
          <p:nvPr/>
        </p:nvSpPr>
        <p:spPr>
          <a:xfrm>
            <a:off x="6428232" y="5413248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/>
          <p:nvPr/>
        </p:nvSpPr>
        <p:spPr>
          <a:xfrm>
            <a:off x="6885432" y="5266944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 grande  </a:t>
            </a:r>
            <a:r>
              <a:rPr lang="en-US" sz="11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8 parâmetros → injeção via @Autowired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6263640" y="5925312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2F8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5"/>
          <p:cNvSpPr/>
          <p:nvPr/>
        </p:nvSpPr>
        <p:spPr>
          <a:xfrm>
            <a:off x="6428232" y="6071616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6885432" y="5925312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em testes  </a:t>
            </a:r>
            <a:r>
              <a:rPr lang="en-US" sz="11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assertEquals, @ParameterizedTest, WebDriverWait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76656"/>
            <a:ext cx="521208" cy="521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5720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94360" y="155448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novas adições de testes elevaram significativamente a cobertura de código do projeto.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94360" y="2423160"/>
          <a:ext cx="64922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452360" y="2423160"/>
            <a:ext cx="4160520" cy="3749040"/>
          </a:xfrm>
          <a:prstGeom prst="roundRect">
            <a:avLst>
              <a:gd name="adj" fmla="val 2439"/>
            </a:avLst>
          </a:prstGeom>
          <a:solidFill>
            <a:srgbClr val="0B3B3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7452360" y="2788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ATUAL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452360" y="3154680"/>
            <a:ext cx="4160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94.2%</a:t>
            </a:r>
            <a:endParaRPr lang="en-US" sz="8800" dirty="0"/>
          </a:p>
        </p:txBody>
      </p:sp>
      <p:sp>
        <p:nvSpPr>
          <p:cNvPr id="10" name="Text 6"/>
          <p:cNvSpPr/>
          <p:nvPr/>
        </p:nvSpPr>
        <p:spPr>
          <a:xfrm>
            <a:off x="7452360" y="470916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+23,2 pontos percentuais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9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relação aos 71,0% iniciais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final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amostragem do SonarCloud · 2.2k linhas · commit 7d298bab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37080" y="1353312"/>
            <a:ext cx="7717536" cy="4308195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depoi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808" y="1463040"/>
            <a:ext cx="7498080" cy="408873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6588" y="5844387"/>
            <a:ext cx="2514600" cy="749808"/>
          </a:xfrm>
          <a:prstGeom prst="roundRect">
            <a:avLst>
              <a:gd name="adj" fmla="val 12195"/>
            </a:avLst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86588" y="5844387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</a:t>
            </a: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21228" y="5844387"/>
            <a:ext cx="2514600" cy="749808"/>
          </a:xfrm>
          <a:prstGeom prst="roundRect">
            <a:avLst>
              <a:gd name="adj" fmla="val 12195"/>
            </a:avLst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421228" y="5844387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 </a:t>
            </a: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→ 8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55868" y="5844387"/>
            <a:ext cx="2514600" cy="749808"/>
          </a:xfrm>
          <a:prstGeom prst="roundRect">
            <a:avLst>
              <a:gd name="adj" fmla="val 12195"/>
            </a:avLst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255868" y="5844387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 </a:t>
            </a: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→ 8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090508" y="5844387"/>
            <a:ext cx="2514600" cy="749808"/>
          </a:xfrm>
          <a:prstGeom prst="roundRect">
            <a:avLst>
              <a:gd name="adj" fmla="val 12195"/>
            </a:avLst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9090508" y="5844387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 </a:t>
            </a: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→ 94,2%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</Words>
  <Application>Microsoft Office PowerPoint</Application>
  <PresentationFormat>Widescreen</PresentationFormat>
  <Paragraphs>64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Impactos do SonarQube — WaiterApp</dc:title>
  <dc:subject>PptxGenJS Presentation</dc:subject>
  <dc:creator>BielPimentaDev</dc:creator>
  <cp:lastModifiedBy>Kauan Christofaro</cp:lastModifiedBy>
  <cp:revision>1</cp:revision>
  <dcterms:created xsi:type="dcterms:W3CDTF">2026-06-17T20:58:18Z</dcterms:created>
  <dcterms:modified xsi:type="dcterms:W3CDTF">2026-07-06T21:36:40Z</dcterms:modified>
</cp:coreProperties>
</file>